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control a neighborhood-scale battery storage system across three buildings with solar generation and stochastic electricity demand. At each hour, the agent outputs a continuous action in [-1, +1] per building — negative discharges, positive charges — to optimize a composite score across cost, carbon, peak demand, discomfort, and thermal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battery coordination directly translates to lower peak loads, cheaper bills, and less carbon — real-world stakes. The CityLearn benchmark gives us a controlled testbed to study RL for a problem where rule-based and MPC methods currently dominate.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control does a reasonable job because the domain has exploitable structure, but it cannot adapt to unusual conditions. RL promises better generalization, but training is unstable across seeds, reward misspecification dominates early results, and the long-horizon credit assignment is brutal. A naive single-seed PPO run looks better than RBC but regresses on held-out splits.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3 has already been solved if the metric is leaderboard rank — CHESCA won with hierarchical optimization. Nobody has done a clean comparison of RL architectures and rewards with seeded error bars, though. That's the gap we fill. We don't claim to beat CHESCA; we claim to map which design choices matter for RL practitioners who come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implemented PPO from scratch on a shared policy net with per-building embeddings for the DTDE variants, and used Stable-Baselines-3 for centralized PPO. SAC is custom for both topologies. The centralized architecture gets full joint-action credit assignment; the DTDE version is the only one that transfers to the 6-building phase-3 held-out split — centralized policies are fundamentally non-portable there.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inventing weights, reward_v1 literally mirrors the 8-term weighted penalty the competition uses to score submissions, so the agent is trained directly on the objective it's evaluated on. reward_v2 adds two battery-behavior terms that penalize SoC swings and charge-discharge sign flips between consecutive steps. Without them, SAC learns bang-bang policies that are locally optimal on public_dev but brittle on held-out splits; with them, the policy is steadier and generalizes better. The reward-ablation axis is run only on SAC-central — we didn't have compute to matched-ablate PPO.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panel is the held-out phase_2_online_eval split — same 3-building setup as training but weather and demand the agent has never seen. RBC sits at 1.09, PPO central at 0.87, SAC variants cluster at 0.65-0.68. The dashed line at 0.562 is CHESCA's 2023 public-leaderboard score — benchmark context, not a head-to-head number, because CHESCA was scored on the original competition server we cannot re-run.</a:t>
            </a:r>
          </a:p>
          <a:p/>
          <a:p>
            <a:r>
              <a:t>The harder test is phase_3 — held-out AND a different 6-building cluster, not the 3 we trained on. Only the shared-DTDE variants can execute here: a centralized policy's input and output layers are wired for exactly 3 buildings, so feeding it a 6-building observation is a shape mismatch, not a degradation. SAC-DTDE generalizes best at 0.774, PPO-DTDE at 0.843. This is our cleanest architectural claim: if deployment might see a different building count than training, choose shared-DTDE.</a:t>
            </a:r>
          </a:p>
          <a:p/>
          <a:p>
            <a:r>
              <a:t>Limitations: single public_dev tuning split was used to select reward variants (overfitting risk); compute-bound so we capped PPO-DTDE and SAC-DTDE at 10 and 3 seeds respectively; reward-variant ablation was run only on SAC-central, not on PPO-central. CHESCA's line is reference, not a competitive bar we're claiming to have cleared.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011680"/>
            <a:ext cx="10911535" cy="1828800"/>
          </a:xfrm>
          <a:prstGeom prst="rect">
            <a:avLst/>
          </a:prstGeom>
          <a:noFill/>
        </p:spPr>
        <p:txBody>
          <a:bodyPr wrap="square">
            <a:spAutoFit/>
          </a:bodyPr>
          <a:lstStyle/>
          <a:p>
            <a:pPr algn="l"/>
            <a:r>
              <a:rPr sz="4000" b="1">
                <a:solidFill>
                  <a:srgbClr val="0F1B2D"/>
                </a:solidFill>
              </a:rPr>
              <a:t>Generalizable RL for Neighborhood Battery Control</a:t>
            </a:r>
          </a:p>
          <a:p>
            <a:pPr algn="l"/>
            <a:r>
              <a:rPr sz="2000" b="1">
                <a:solidFill>
                  <a:srgbClr val="E7721E"/>
                </a:solidFill>
              </a:rPr>
              <a:t>CityLearn Challenge 2023 · Track 3 (RL Competition)</a:t>
            </a:r>
          </a:p>
        </p:txBody>
      </p:sp>
      <p:sp>
        <p:nvSpPr>
          <p:cNvPr id="3" name="Rectangle 2"/>
          <p:cNvSpPr/>
          <p:nvPr/>
        </p:nvSpPr>
        <p:spPr>
          <a:xfrm>
            <a:off x="640080" y="406908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97680"/>
            <a:ext cx="10911535" cy="1371600"/>
          </a:xfrm>
          <a:prstGeom prst="rect">
            <a:avLst/>
          </a:prstGeom>
          <a:noFill/>
        </p:spPr>
        <p:txBody>
          <a:bodyPr wrap="none">
            <a:spAutoFit/>
          </a:bodyPr>
          <a:lstStyle/>
          <a:p>
            <a:r>
              <a:rPr sz="2000">
                <a:solidFill>
                  <a:srgbClr val="1F2A3A"/>
                </a:solidFill>
              </a:rPr>
              <a:t>Erik Dyer  ·  Ammaar Alam  ·  Grace Sun</a:t>
            </a:r>
          </a:p>
          <a:p>
            <a:r>
              <a:rPr sz="1600">
                <a:solidFill>
                  <a:srgbClr val="555F6D"/>
                </a:solidFill>
              </a:rPr>
              <a:t>COS 435 / ECE 433 — Spring 2026</a:t>
            </a:r>
          </a:p>
        </p:txBody>
      </p:sp>
      <p:sp>
        <p:nvSpPr>
          <p:cNvPr id="5" name="TextBox 4"/>
          <p:cNvSpPr txBox="1"/>
          <p:nvPr/>
        </p:nvSpPr>
        <p:spPr>
          <a:xfrm>
            <a:off x="640080" y="5212080"/>
            <a:ext cx="10911535" cy="1188720"/>
          </a:xfrm>
          <a:prstGeom prst="rect">
            <a:avLst/>
          </a:prstGeom>
          <a:noFill/>
        </p:spPr>
        <p:txBody>
          <a:bodyPr wrap="square">
            <a:spAutoFit/>
          </a:bodyPr>
          <a:lstStyle/>
          <a:p>
            <a:r>
              <a:rPr sz="1500" i="1">
                <a:solidFill>
                  <a:srgbClr val="1F2A3A"/>
                </a:solidFill>
              </a:rPr>
              <a:t>Problem: control a shared neighborhood battery across 3 buildings with solar PV and stochastic demand. Each hour the policy emits a per-building continuous action in [−1, +1] to jointly reduce cost, carbon, peak, discomfort, and outage risk.</a:t>
            </a:r>
          </a:p>
        </p:txBody>
      </p:sp>
      <p:sp>
        <p:nvSpPr>
          <p:cNvPr id="6" name="TextBox 5"/>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Title + problem</a:t>
            </a:r>
            <a:r>
              <a:rPr sz="1000">
                <a:solidFill>
                  <a:srgbClr val="555F6D"/>
                </a:solidFill>
              </a:rPr>
              <a:t>     1 /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Why it matters</a:t>
            </a:r>
          </a:p>
          <a:p>
            <a:pPr algn="l"/>
            <a:r>
              <a:rPr sz="1600">
                <a:solidFill>
                  <a:srgbClr val="555F6D"/>
                </a:solidFill>
              </a:rPr>
              <a:t>Buildings are a first-order decarbonization lever</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37360"/>
            <a:ext cx="11277295" cy="4572000"/>
          </a:xfrm>
          <a:prstGeom prst="rect">
            <a:avLst/>
          </a:prstGeom>
          <a:noFill/>
        </p:spPr>
        <p:txBody>
          <a:bodyPr wrap="square">
            <a:spAutoFit/>
          </a:bodyPr>
          <a:lstStyle/>
          <a:p>
            <a:pPr algn="l">
              <a:spcAft>
                <a:spcPts val="1000"/>
              </a:spcAft>
            </a:pPr>
            <a:r>
              <a:rPr sz="2000" b="1">
                <a:solidFill>
                  <a:srgbClr val="E7721E"/>
                </a:solidFill>
              </a:rPr>
              <a:t>• </a:t>
            </a:r>
            <a:r>
              <a:rPr sz="2000" b="1">
                <a:solidFill>
                  <a:srgbClr val="1F2A3A"/>
                </a:solidFill>
              </a:rPr>
              <a:t>Buildings ≈ 28% of global CO₂ emissions</a:t>
            </a:r>
            <a:r>
              <a:rPr sz="2000">
                <a:solidFill>
                  <a:srgbClr val="1F2A3A"/>
                </a:solidFill>
              </a:rPr>
              <a:t>  (IEA)</a:t>
            </a:r>
          </a:p>
          <a:p>
            <a:pPr algn="l">
              <a:spcAft>
                <a:spcPts val="1000"/>
              </a:spcAft>
            </a:pPr>
            <a:r>
              <a:rPr sz="2000" b="1">
                <a:solidFill>
                  <a:srgbClr val="E7721E"/>
                </a:solidFill>
              </a:rPr>
              <a:t>• </a:t>
            </a:r>
            <a:r>
              <a:rPr sz="2000" b="1">
                <a:solidFill>
                  <a:srgbClr val="1F2A3A"/>
                </a:solidFill>
              </a:rPr>
              <a:t>Distributed storage + PV</a:t>
            </a:r>
            <a:r>
              <a:rPr sz="2000">
                <a:solidFill>
                  <a:srgbClr val="1F2A3A"/>
                </a:solidFill>
              </a:rPr>
              <a:t> is a key grid-decarbonization lever — shifts peak, absorbs renewables.</a:t>
            </a:r>
          </a:p>
          <a:p>
            <a:pPr algn="l">
              <a:spcAft>
                <a:spcPts val="1000"/>
              </a:spcAft>
            </a:pPr>
            <a:r>
              <a:rPr sz="2000" b="1">
                <a:solidFill>
                  <a:srgbClr val="E7721E"/>
                </a:solidFill>
              </a:rPr>
              <a:t>• </a:t>
            </a:r>
            <a:r>
              <a:rPr sz="2000" b="1">
                <a:solidFill>
                  <a:srgbClr val="1F2A3A"/>
                </a:solidFill>
              </a:rPr>
              <a:t>CityLearn Challenge 2023</a:t>
            </a:r>
            <a:r>
              <a:rPr sz="2000">
                <a:solidFill>
                  <a:srgbClr val="1F2A3A"/>
                </a:solidFill>
              </a:rPr>
              <a:t> — realistic, standardized benchmark for multi-building coordination.</a:t>
            </a:r>
          </a:p>
          <a:p>
            <a:pPr algn="l">
              <a:spcAft>
                <a:spcPts val="1000"/>
              </a:spcAft>
            </a:pPr>
            <a:r>
              <a:rPr sz="2000" b="1">
                <a:solidFill>
                  <a:srgbClr val="E7721E"/>
                </a:solidFill>
              </a:rPr>
              <a:t>• </a:t>
            </a:r>
            <a:r>
              <a:rPr sz="2000" b="1">
                <a:solidFill>
                  <a:srgbClr val="1F2A3A"/>
                </a:solidFill>
              </a:rPr>
              <a:t>Better battery coordination</a:t>
            </a:r>
            <a:r>
              <a:rPr sz="2000">
                <a:solidFill>
                  <a:srgbClr val="1F2A3A"/>
                </a:solidFill>
              </a:rPr>
              <a:t> → lower peak loads, cheaper bills, less carbon. Real-world stakes.</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Why it matters</a:t>
            </a:r>
            <a:r>
              <a:rPr sz="1000">
                <a:solidFill>
                  <a:srgbClr val="555F6D"/>
                </a:solidFill>
              </a:rPr>
              <a:t>     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Why it is hard</a:t>
            </a:r>
          </a:p>
          <a:p>
            <a:pPr algn="l"/>
            <a:r>
              <a:rPr sz="1600">
                <a:solidFill>
                  <a:srgbClr val="555F6D"/>
                </a:solidFill>
              </a:rPr>
              <a:t>Naive approaches fail for concrete, measurable reasons</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37360"/>
            <a:ext cx="11277295" cy="4572000"/>
          </a:xfrm>
          <a:prstGeom prst="rect">
            <a:avLst/>
          </a:prstGeom>
          <a:noFill/>
        </p:spPr>
        <p:txBody>
          <a:bodyPr wrap="square">
            <a:spAutoFit/>
          </a:bodyPr>
          <a:lstStyle/>
          <a:p>
            <a:pPr algn="l">
              <a:spcAft>
                <a:spcPts val="1000"/>
              </a:spcAft>
            </a:pPr>
            <a:r>
              <a:rPr sz="1900" b="1">
                <a:solidFill>
                  <a:srgbClr val="E7721E"/>
                </a:solidFill>
              </a:rPr>
              <a:t>• </a:t>
            </a:r>
            <a:r>
              <a:rPr sz="1900" b="1">
                <a:solidFill>
                  <a:srgbClr val="1F2A3A"/>
                </a:solidFill>
              </a:rPr>
              <a:t>Non-stationary demand + weather</a:t>
            </a:r>
            <a:r>
              <a:rPr sz="1900">
                <a:solidFill>
                  <a:srgbClr val="1F2A3A"/>
                </a:solidFill>
              </a:rPr>
              <a:t> — distribution shifts across seasons and hours.</a:t>
            </a:r>
          </a:p>
          <a:p>
            <a:pPr algn="l">
              <a:spcAft>
                <a:spcPts val="1000"/>
              </a:spcAft>
            </a:pPr>
            <a:r>
              <a:rPr sz="1900" b="1">
                <a:solidFill>
                  <a:srgbClr val="E7721E"/>
                </a:solidFill>
              </a:rPr>
              <a:t>• </a:t>
            </a:r>
            <a:r>
              <a:rPr sz="1900" b="1">
                <a:solidFill>
                  <a:srgbClr val="1F2A3A"/>
                </a:solidFill>
              </a:rPr>
              <a:t>Partial observability</a:t>
            </a:r>
            <a:r>
              <a:rPr sz="1900">
                <a:solidFill>
                  <a:srgbClr val="1F2A3A"/>
                </a:solidFill>
              </a:rPr>
              <a:t> — no perfect load forecast, imperfect thermal state.</a:t>
            </a:r>
          </a:p>
          <a:p>
            <a:pPr algn="l">
              <a:spcAft>
                <a:spcPts val="1000"/>
              </a:spcAft>
            </a:pPr>
            <a:r>
              <a:rPr sz="1900" b="1">
                <a:solidFill>
                  <a:srgbClr val="E7721E"/>
                </a:solidFill>
              </a:rPr>
              <a:t>• </a:t>
            </a:r>
            <a:r>
              <a:rPr sz="1900" b="1">
                <a:solidFill>
                  <a:srgbClr val="1F2A3A"/>
                </a:solidFill>
              </a:rPr>
              <a:t>Multi-building coordination, long horizons</a:t>
            </a:r>
            <a:r>
              <a:rPr sz="1900">
                <a:solidFill>
                  <a:srgbClr val="1F2A3A"/>
                </a:solidFill>
              </a:rPr>
              <a:t> — credit assignment is brutal.</a:t>
            </a:r>
          </a:p>
          <a:p>
            <a:pPr algn="l">
              <a:spcAft>
                <a:spcPts val="1000"/>
              </a:spcAft>
            </a:pPr>
            <a:r>
              <a:rPr sz="1900" b="1">
                <a:solidFill>
                  <a:srgbClr val="E7721E"/>
                </a:solidFill>
              </a:rPr>
              <a:t>• </a:t>
            </a:r>
            <a:r>
              <a:rPr sz="1900" b="1">
                <a:solidFill>
                  <a:srgbClr val="1F2A3A"/>
                </a:solidFill>
              </a:rPr>
              <a:t>Reward specification is not given</a:t>
            </a:r>
            <a:r>
              <a:rPr sz="1900">
                <a:solidFill>
                  <a:srgbClr val="1F2A3A"/>
                </a:solidFill>
              </a:rPr>
              <a:t> — competition ships an evaluation rule, not a training signal.</a:t>
            </a:r>
          </a:p>
          <a:p>
            <a:pPr algn="l">
              <a:spcAft>
                <a:spcPts val="1000"/>
              </a:spcAft>
            </a:pPr>
            <a:r>
              <a:rPr sz="1900" b="1">
                <a:solidFill>
                  <a:srgbClr val="E7721E"/>
                </a:solidFill>
              </a:rPr>
              <a:t>• </a:t>
            </a:r>
            <a:r>
              <a:rPr sz="1900" b="1">
                <a:solidFill>
                  <a:srgbClr val="1F2A3A"/>
                </a:solidFill>
              </a:rPr>
              <a:t>Naive RBC = 1.02 on public_dev</a:t>
            </a:r>
            <a:r>
              <a:rPr sz="1900">
                <a:solidFill>
                  <a:srgbClr val="1F2A3A"/>
                </a:solidFill>
              </a:rPr>
              <a:t>  — strong non-RL baseline. Exploitable structure, little adaptivity.</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Why it is hard</a:t>
            </a:r>
            <a:r>
              <a:rPr sz="1000">
                <a:solidFill>
                  <a:srgbClr val="555F6D"/>
                </a:solidFill>
              </a:rPr>
              <a:t>     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Prior work  +  our differentiator</a:t>
            </a:r>
          </a:p>
          <a:p>
            <a:pPr algn="l"/>
            <a:r>
              <a:rPr sz="1600">
                <a:solidFill>
                  <a:srgbClr val="555F6D"/>
                </a:solidFill>
              </a:rPr>
              <a:t>Track 3 is already solved if the metric is leaderboard rank</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91640"/>
            <a:ext cx="11277295" cy="4572000"/>
          </a:xfrm>
          <a:prstGeom prst="rect">
            <a:avLst/>
          </a:prstGeom>
          <a:noFill/>
        </p:spPr>
        <p:txBody>
          <a:bodyPr wrap="square">
            <a:spAutoFit/>
          </a:bodyPr>
          <a:lstStyle/>
          <a:p>
            <a:pPr algn="l">
              <a:spcAft>
                <a:spcPts val="1000"/>
              </a:spcAft>
            </a:pPr>
            <a:r>
              <a:rPr sz="1800" b="1">
                <a:solidFill>
                  <a:srgbClr val="E7721E"/>
                </a:solidFill>
              </a:rPr>
              <a:t>• </a:t>
            </a:r>
            <a:r>
              <a:rPr sz="1800" b="1">
                <a:solidFill>
                  <a:srgbClr val="1F2A3A"/>
                </a:solidFill>
              </a:rPr>
              <a:t>CityLearn 2023 winner: CHESCA</a:t>
            </a:r>
            <a:r>
              <a:rPr sz="1800">
                <a:solidFill>
                  <a:srgbClr val="1F2A3A"/>
                </a:solidFill>
              </a:rPr>
              <a:t> — 0.562 public / 0.565 private (hierarchical optimization, not RL).</a:t>
            </a:r>
          </a:p>
          <a:p>
            <a:pPr algn="l">
              <a:spcAft>
                <a:spcPts val="1000"/>
              </a:spcAft>
            </a:pPr>
            <a:r>
              <a:rPr sz="1800" b="1">
                <a:solidFill>
                  <a:srgbClr val="E7721E"/>
                </a:solidFill>
              </a:rPr>
              <a:t>• </a:t>
            </a:r>
            <a:r>
              <a:rPr sz="1800" b="1">
                <a:solidFill>
                  <a:srgbClr val="1F2A3A"/>
                </a:solidFill>
              </a:rPr>
              <a:t>Most leaderboard entries</a:t>
            </a:r>
            <a:r>
              <a:rPr sz="1800">
                <a:solidFill>
                  <a:srgbClr val="1F2A3A"/>
                </a:solidFill>
              </a:rPr>
              <a:t> are rule-based or MPC variants — RL is under-represented.</a:t>
            </a:r>
          </a:p>
          <a:p>
            <a:pPr algn="l">
              <a:spcAft>
                <a:spcPts val="1000"/>
              </a:spcAft>
            </a:pPr>
            <a:r>
              <a:rPr sz="1800" b="1">
                <a:solidFill>
                  <a:srgbClr val="E7721E"/>
                </a:solidFill>
              </a:rPr>
              <a:t>• </a:t>
            </a:r>
            <a:r>
              <a:rPr sz="1800" b="1">
                <a:solidFill>
                  <a:srgbClr val="1F2A3A"/>
                </a:solidFill>
              </a:rPr>
              <a:t>Our contribution: a systematic ablation, not a new algorithm.</a:t>
            </a:r>
          </a:p>
          <a:p>
            <a:pPr algn="l">
              <a:spcAft>
                <a:spcPts val="1000"/>
              </a:spcAft>
            </a:pPr>
            <a:r>
              <a:rPr sz="1800" b="1">
                <a:solidFill>
                  <a:srgbClr val="E7721E"/>
                </a:solidFill>
              </a:rPr>
              <a:t>• </a:t>
            </a:r>
            <a:r>
              <a:rPr sz="1800" b="1">
                <a:solidFill>
                  <a:srgbClr val="1F2A3A"/>
                </a:solidFill>
              </a:rPr>
              <a:t>2 algorithms  ×  2 control topologies  ×  3 reward variants</a:t>
            </a:r>
          </a:p>
          <a:p>
            <a:pPr algn="l">
              <a:spcAft>
                <a:spcPts val="1000"/>
              </a:spcAft>
            </a:pPr>
            <a:r>
              <a:rPr sz="1800" b="1">
                <a:solidFill>
                  <a:srgbClr val="E7721E"/>
                </a:solidFill>
              </a:rPr>
              <a:t>• </a:t>
            </a:r>
            <a:r>
              <a:rPr sz="1800" b="1">
                <a:solidFill>
                  <a:srgbClr val="1F2A3A"/>
                </a:solidFill>
              </a:rPr>
              <a:t>Multi-seed runs (n = 3–10) with 95% CI error bars</a:t>
            </a:r>
          </a:p>
          <a:p>
            <a:pPr algn="l">
              <a:spcAft>
                <a:spcPts val="1000"/>
              </a:spcAft>
            </a:pPr>
            <a:r>
              <a:rPr sz="1800" b="1">
                <a:solidFill>
                  <a:srgbClr val="E7721E"/>
                </a:solidFill>
              </a:rPr>
              <a:t>• </a:t>
            </a:r>
            <a:r>
              <a:rPr sz="1800" b="1">
                <a:solidFill>
                  <a:srgbClr val="1F2A3A"/>
                </a:solidFill>
              </a:rPr>
              <a:t>Cross-split generalization</a:t>
            </a:r>
            <a:r>
              <a:rPr sz="1800">
                <a:solidFill>
                  <a:srgbClr val="1F2A3A"/>
                </a:solidFill>
              </a:rPr>
              <a:t>: public_dev → phase_2 (3b) → phase_3 (6b held-out)</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Prior work + differentiator</a:t>
            </a:r>
            <a:r>
              <a:rPr sz="1000">
                <a:solidFill>
                  <a:srgbClr val="555F6D"/>
                </a:solidFill>
              </a:rPr>
              <a:t>     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Approach — architecture + algorithms</a:t>
            </a:r>
          </a:p>
          <a:p>
            <a:pPr algn="l"/>
            <a:r>
              <a:rPr sz="1600">
                <a:solidFill>
                  <a:srgbClr val="555F6D"/>
                </a:solidFill>
              </a:rPr>
              <a:t>Two control topologies, two RL algorithms</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91640"/>
            <a:ext cx="11277295" cy="4572000"/>
          </a:xfrm>
          <a:prstGeom prst="rect">
            <a:avLst/>
          </a:prstGeom>
          <a:noFill/>
        </p:spPr>
        <p:txBody>
          <a:bodyPr wrap="square">
            <a:spAutoFit/>
          </a:bodyPr>
          <a:lstStyle/>
          <a:p>
            <a:pPr algn="l">
              <a:spcAft>
                <a:spcPts val="1000"/>
              </a:spcAft>
            </a:pPr>
            <a:r>
              <a:rPr sz="1700" b="1">
                <a:solidFill>
                  <a:srgbClr val="E7721E"/>
                </a:solidFill>
              </a:rPr>
              <a:t>• </a:t>
            </a:r>
            <a:r>
              <a:rPr sz="1700" b="1">
                <a:solidFill>
                  <a:srgbClr val="1F2A3A"/>
                </a:solidFill>
              </a:rPr>
              <a:t>Centralized</a:t>
            </a:r>
            <a:r>
              <a:rPr sz="1700">
                <a:solidFill>
                  <a:srgbClr val="1F2A3A"/>
                </a:solidFill>
              </a:rPr>
              <a:t>: one controller observes all 3 buildings, emits a 3-vector action. Wired for exactly 3 buildings.</a:t>
            </a:r>
          </a:p>
          <a:p>
            <a:pPr algn="l">
              <a:spcAft>
                <a:spcPts val="1000"/>
              </a:spcAft>
            </a:pPr>
            <a:r>
              <a:rPr sz="1700" b="1">
                <a:solidFill>
                  <a:srgbClr val="E7721E"/>
                </a:solidFill>
              </a:rPr>
              <a:t>• </a:t>
            </a:r>
            <a:r>
              <a:rPr sz="1700" b="1">
                <a:solidFill>
                  <a:srgbClr val="1F2A3A"/>
                </a:solidFill>
              </a:rPr>
              <a:t>Shared-DTDE</a:t>
            </a:r>
            <a:r>
              <a:rPr sz="1700">
                <a:solidFill>
                  <a:srgbClr val="1F2A3A"/>
                </a:solidFill>
              </a:rPr>
              <a:t>: one policy network, per-building observation windows, decentralized rollout with shared parameters — size-agnostic.</a:t>
            </a:r>
          </a:p>
          <a:p>
            <a:pPr algn="l">
              <a:spcAft>
                <a:spcPts val="1000"/>
              </a:spcAft>
            </a:pPr>
            <a:r>
              <a:rPr sz="1700" b="1">
                <a:solidFill>
                  <a:srgbClr val="E7721E"/>
                </a:solidFill>
              </a:rPr>
              <a:t>• </a:t>
            </a:r>
            <a:r>
              <a:rPr sz="1700" b="1">
                <a:solidFill>
                  <a:srgbClr val="1F2A3A"/>
                </a:solidFill>
              </a:rPr>
              <a:t>PPO</a:t>
            </a:r>
            <a:r>
              <a:rPr sz="1700">
                <a:solidFill>
                  <a:srgbClr val="1F2A3A"/>
                </a:solidFill>
              </a:rPr>
              <a:t> — on-policy, clipped surrogate objective. From-scratch for DTDE; Stable-Baselines-3 for centralized.</a:t>
            </a:r>
          </a:p>
          <a:p>
            <a:pPr algn="l">
              <a:spcAft>
                <a:spcPts val="1000"/>
              </a:spcAft>
            </a:pPr>
            <a:r>
              <a:rPr sz="1700" b="1">
                <a:solidFill>
                  <a:srgbClr val="E7721E"/>
                </a:solidFill>
              </a:rPr>
              <a:t>• </a:t>
            </a:r>
            <a:r>
              <a:rPr sz="1700" b="1">
                <a:solidFill>
                  <a:srgbClr val="1F2A3A"/>
                </a:solidFill>
              </a:rPr>
              <a:t>SAC</a:t>
            </a:r>
            <a:r>
              <a:rPr sz="1700">
                <a:solidFill>
                  <a:srgbClr val="1F2A3A"/>
                </a:solidFill>
              </a:rPr>
              <a:t> — off-policy, entropy-regularized. Custom for both topologies.</a:t>
            </a:r>
          </a:p>
          <a:p>
            <a:pPr algn="l">
              <a:spcAft>
                <a:spcPts val="1000"/>
              </a:spcAft>
            </a:pPr>
            <a:r>
              <a:rPr sz="1700" b="1">
                <a:solidFill>
                  <a:srgbClr val="E7721E"/>
                </a:solidFill>
              </a:rPr>
              <a:t>• </a:t>
            </a:r>
            <a:r>
              <a:rPr sz="1700" b="1">
                <a:solidFill>
                  <a:srgbClr val="1F2A3A"/>
                </a:solidFill>
              </a:rPr>
              <a:t>Only shared-DTDE transfers to the 6-building phase_3 held-out cluster</a:t>
            </a:r>
            <a:r>
              <a:rPr sz="1700">
                <a:solidFill>
                  <a:srgbClr val="1F2A3A"/>
                </a:solidFill>
              </a:rPr>
              <a:t> — a centralized policy's input/output shapes are fundamentally non-portable.</a:t>
            </a:r>
          </a:p>
        </p:txBody>
      </p:sp>
      <p:sp>
        <p:nvSpPr>
          <p:cNvPr id="5" name="TextBox 4"/>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Approach — architecture</a:t>
            </a:r>
            <a:r>
              <a:rPr sz="1000">
                <a:solidFill>
                  <a:srgbClr val="555F6D"/>
                </a:solidFill>
              </a:rPr>
              <a:t>     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Approach — reward design</a:t>
            </a:r>
          </a:p>
          <a:p>
            <a:pPr algn="l"/>
            <a:r>
              <a:rPr sz="1600">
                <a:solidFill>
                  <a:srgbClr val="555F6D"/>
                </a:solidFill>
              </a:rPr>
              <a:t>Train on the same thing the competition scores on</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828800"/>
          <a:ext cx="11277295" cy="3840480"/>
        </p:xfrm>
        <a:graphic>
          <a:graphicData uri="http://schemas.openxmlformats.org/drawingml/2006/table">
            <a:tbl>
              <a:tblPr firstRow="1" bandRow="1">
                <a:tableStyleId>{5C22544A-7EE6-4342-B048-85BDC9FD1C3A}</a:tableStyleId>
              </a:tblPr>
              <a:tblGrid>
                <a:gridCol w="1920240"/>
                <a:gridCol w="5943600"/>
                <a:gridCol w="3413455"/>
              </a:tblGrid>
              <a:tr h="960120">
                <a:tc>
                  <a:txBody>
                    <a:bodyPr wrap="square"/>
                    <a:lstStyle/>
                    <a:p>
                      <a:pPr algn="l"/>
                      <a:r>
                        <a:rPr sz="1400" b="1">
                          <a:solidFill>
                            <a:srgbClr val="FFFFFF"/>
                          </a:solidFill>
                        </a:rPr>
                        <a:t>Variant</a:t>
                      </a:r>
                    </a:p>
                  </a:txBody>
                  <a:tcPr>
                    <a:solidFill>
                      <a:srgbClr val="0F1B2D"/>
                    </a:solidFill>
                  </a:tcPr>
                </a:tc>
                <a:tc>
                  <a:txBody>
                    <a:bodyPr wrap="square"/>
                    <a:lstStyle/>
                    <a:p>
                      <a:pPr algn="l"/>
                      <a:r>
                        <a:rPr sz="1400" b="1">
                          <a:solidFill>
                            <a:srgbClr val="FFFFFF"/>
                          </a:solidFill>
                        </a:rPr>
                        <a:t>What it is</a:t>
                      </a:r>
                    </a:p>
                  </a:txBody>
                  <a:tcPr>
                    <a:solidFill>
                      <a:srgbClr val="0F1B2D"/>
                    </a:solidFill>
                  </a:tcPr>
                </a:tc>
                <a:tc>
                  <a:txBody>
                    <a:bodyPr wrap="square"/>
                    <a:lstStyle/>
                    <a:p>
                      <a:pPr algn="l"/>
                      <a:r>
                        <a:rPr sz="1400" b="1">
                          <a:solidFill>
                            <a:srgbClr val="FFFFFF"/>
                          </a:solidFill>
                        </a:rPr>
                        <a:t>Why</a:t>
                      </a:r>
                    </a:p>
                  </a:txBody>
                  <a:tcPr>
                    <a:solidFill>
                      <a:srgbClr val="0F1B2D"/>
                    </a:solidFill>
                  </a:tcPr>
                </a:tc>
              </a:tr>
              <a:tr h="960120">
                <a:tc>
                  <a:txBody>
                    <a:bodyPr wrap="square"/>
                    <a:lstStyle/>
                    <a:p>
                      <a:pPr algn="l"/>
                      <a:r>
                        <a:rPr sz="1300" b="0">
                          <a:solidFill>
                            <a:srgbClr val="1F2A3A"/>
                          </a:solidFill>
                        </a:rPr>
                        <a:t>reward_v0</a:t>
                      </a:r>
                    </a:p>
                    <a:p>
                      <a:pPr algn="l"/>
                      <a:r>
                        <a:rPr sz="1300" b="0">
                          <a:solidFill>
                            <a:srgbClr val="1F2A3A"/>
                          </a:solidFill>
                        </a:rPr>
                        <a:t>(baseline)</a:t>
                      </a:r>
                    </a:p>
                  </a:txBody>
                  <a:tcPr>
                    <a:solidFill>
                      <a:srgbClr val="F6F2EC"/>
                    </a:solidFill>
                  </a:tcPr>
                </a:tc>
                <a:tc>
                  <a:txBody>
                    <a:bodyPr wrap="square"/>
                    <a:lstStyle/>
                    <a:p>
                      <a:pPr algn="l"/>
                      <a:r>
                        <a:rPr sz="1200">
                          <a:solidFill>
                            <a:srgbClr val="1F2A3A"/>
                          </a:solidFill>
                        </a:rPr>
                        <a:t>CityLearn's built-in default (negative net-consumption proxy).</a:t>
                      </a:r>
                    </a:p>
                  </a:txBody>
                  <a:tcPr>
                    <a:solidFill>
                      <a:srgbClr val="F6F2EC"/>
                    </a:solidFill>
                  </a:tcPr>
                </a:tc>
                <a:tc>
                  <a:txBody>
                    <a:bodyPr wrap="square"/>
                    <a:lstStyle/>
                    <a:p>
                      <a:pPr algn="l"/>
                      <a:r>
                        <a:rPr sz="1200">
                          <a:solidFill>
                            <a:srgbClr val="1F2A3A"/>
                          </a:solidFill>
                        </a:rPr>
                        <a:t>Sanity baseline; the training signal does not match the competition scoring rule.</a:t>
                      </a:r>
                    </a:p>
                  </a:txBody>
                  <a:tcPr>
                    <a:solidFill>
                      <a:srgbClr val="F6F2EC"/>
                    </a:solidFill>
                  </a:tcPr>
                </a:tc>
              </a:tr>
              <a:tr h="960120">
                <a:tc>
                  <a:txBody>
                    <a:bodyPr wrap="square"/>
                    <a:lstStyle/>
                    <a:p>
                      <a:pPr algn="l"/>
                      <a:r>
                        <a:rPr sz="1300" b="1">
                          <a:solidFill>
                            <a:srgbClr val="1F2A3A"/>
                          </a:solidFill>
                        </a:rPr>
                        <a:t>reward_v1</a:t>
                      </a:r>
                    </a:p>
                  </a:txBody>
                  <a:tcPr>
                    <a:solidFill>
                      <a:srgbClr val="FDEFDA"/>
                    </a:solidFill>
                  </a:tcPr>
                </a:tc>
                <a:tc>
                  <a:txBody>
                    <a:bodyPr wrap="square"/>
                    <a:lstStyle/>
                    <a:p>
                      <a:pPr algn="l"/>
                      <a:r>
                        <a:rPr sz="1200">
                          <a:solidFill>
                            <a:srgbClr val="1F2A3A"/>
                          </a:solidFill>
                        </a:rPr>
                        <a:t>8-term weighted penalty mirroring the official 2023 scoring weights:</a:t>
                      </a:r>
                    </a:p>
                    <a:p>
                      <a:pPr algn="l"/>
                      <a:r>
                        <a:rPr sz="1200">
                          <a:solidFill>
                            <a:srgbClr val="1F2A3A"/>
                          </a:solidFill>
                        </a:rPr>
                        <a:t>0.30·comfort + 0.15·outage_comfort + 0.15·outage_unserved + 0.10·carbon + 0.075·{ramping, load_factor, daily_peak, all_time_peak}</a:t>
                      </a:r>
                    </a:p>
                  </a:txBody>
                  <a:tcPr>
                    <a:solidFill>
                      <a:srgbClr val="FDEFDA"/>
                    </a:solidFill>
                  </a:tcPr>
                </a:tc>
                <a:tc>
                  <a:txBody>
                    <a:bodyPr wrap="square"/>
                    <a:lstStyle/>
                    <a:p>
                      <a:pPr algn="l"/>
                      <a:r>
                        <a:rPr sz="1200">
                          <a:solidFill>
                            <a:srgbClr val="1F2A3A"/>
                          </a:solidFill>
                        </a:rPr>
                        <a:t>Train on the same thing the competition scores on.</a:t>
                      </a:r>
                    </a:p>
                  </a:txBody>
                  <a:tcPr>
                    <a:solidFill>
                      <a:srgbClr val="FDEFDA"/>
                    </a:solidFill>
                  </a:tcPr>
                </a:tc>
              </a:tr>
              <a:tr h="960120">
                <a:tc>
                  <a:txBody>
                    <a:bodyPr wrap="square"/>
                    <a:lstStyle/>
                    <a:p>
                      <a:pPr algn="l"/>
                      <a:r>
                        <a:rPr sz="1300" b="1">
                          <a:solidFill>
                            <a:srgbClr val="1F2A3A"/>
                          </a:solidFill>
                        </a:rPr>
                        <a:t>reward_v2</a:t>
                      </a:r>
                    </a:p>
                  </a:txBody>
                  <a:tcPr>
                    <a:solidFill>
                      <a:srgbClr val="FDEFDA"/>
                    </a:solidFill>
                  </a:tcPr>
                </a:tc>
                <a:tc>
                  <a:txBody>
                    <a:bodyPr wrap="square"/>
                    <a:lstStyle/>
                    <a:p>
                      <a:pPr algn="l"/>
                      <a:r>
                        <a:rPr sz="1200">
                          <a:solidFill>
                            <a:srgbClr val="1F2A3A"/>
                          </a:solidFill>
                        </a:rPr>
                        <a:t>reward_v1 + 0.05·|ΔSoC| + 0.05·1[sign_flip]</a:t>
                      </a:r>
                    </a:p>
                  </a:txBody>
                  <a:tcPr>
                    <a:solidFill>
                      <a:srgbClr val="FDEFDA"/>
                    </a:solidFill>
                  </a:tcPr>
                </a:tc>
                <a:tc>
                  <a:txBody>
                    <a:bodyPr wrap="square"/>
                    <a:lstStyle/>
                    <a:p>
                      <a:pPr algn="l"/>
                      <a:r>
                        <a:rPr sz="1200">
                          <a:solidFill>
                            <a:srgbClr val="1F2A3A"/>
                          </a:solidFill>
                        </a:rPr>
                        <a:t>Battery smoothness penalties — discourages bang-bang charge/discharge; empirically improves cross-split generalization.</a:t>
                      </a:r>
                    </a:p>
                  </a:txBody>
                  <a:tcPr>
                    <a:solidFill>
                      <a:srgbClr val="FDEFDA"/>
                    </a:solidFill>
                  </a:tcPr>
                </a:tc>
              </a:tr>
            </a:tbl>
          </a:graphicData>
        </a:graphic>
      </p:graphicFrame>
      <p:sp>
        <p:nvSpPr>
          <p:cNvPr id="5" name="TextBox 4"/>
          <p:cNvSpPr txBox="1"/>
          <p:nvPr/>
        </p:nvSpPr>
        <p:spPr>
          <a:xfrm>
            <a:off x="457200" y="5715000"/>
            <a:ext cx="11277295" cy="548640"/>
          </a:xfrm>
          <a:prstGeom prst="rect">
            <a:avLst/>
          </a:prstGeom>
          <a:noFill/>
        </p:spPr>
        <p:txBody>
          <a:bodyPr wrap="square">
            <a:spAutoFit/>
          </a:bodyPr>
          <a:lstStyle/>
          <a:p>
            <a:r>
              <a:rPr sz="1100" i="1">
                <a:solidFill>
                  <a:srgbClr val="555F6D"/>
                </a:solidFill>
              </a:rPr>
              <a:t>Reward-variant ablation axis run on SAC-central only (compute-bound). SoC = battery state of charge; sign_flip indicator penalizes charge→discharge reversal between consecutive steps.</a:t>
            </a:r>
          </a:p>
        </p:txBody>
      </p:sp>
      <p:sp>
        <p:nvSpPr>
          <p:cNvPr id="6" name="TextBox 5"/>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Reward design</a:t>
            </a:r>
            <a:r>
              <a:rPr sz="1000">
                <a:solidFill>
                  <a:srgbClr val="555F6D"/>
                </a:solidFill>
              </a:rPr>
              <a:t>     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914400"/>
          </a:xfrm>
          <a:prstGeom prst="rect">
            <a:avLst/>
          </a:prstGeom>
          <a:noFill/>
        </p:spPr>
        <p:txBody>
          <a:bodyPr wrap="square">
            <a:spAutoFit/>
          </a:bodyPr>
          <a:lstStyle/>
          <a:p>
            <a:pPr algn="l"/>
            <a:r>
              <a:rPr sz="3200" b="1">
                <a:solidFill>
                  <a:srgbClr val="0F1B2D"/>
                </a:solidFill>
              </a:rPr>
              <a:t>Results  +  limitations</a:t>
            </a:r>
          </a:p>
          <a:p>
            <a:pPr algn="l"/>
            <a:r>
              <a:rPr sz="1600">
                <a:solidFill>
                  <a:srgbClr val="555F6D"/>
                </a:solidFill>
              </a:rPr>
              <a:t>Held-out average_score (↓ better) across 6 released evaluation datasets</a:t>
            </a:r>
          </a:p>
        </p:txBody>
      </p:sp>
      <p:sp>
        <p:nvSpPr>
          <p:cNvPr id="3" name="Rectangle 2"/>
          <p:cNvSpPr/>
          <p:nvPr/>
        </p:nvSpPr>
        <p:spPr>
          <a:xfrm>
            <a:off x="457200" y="1234440"/>
            <a:ext cx="2057400" cy="38100"/>
          </a:xfrm>
          <a:prstGeom prst="rect">
            <a:avLst/>
          </a:prstGeom>
          <a:solidFill>
            <a:srgbClr val="E77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er_split_scores.png"/>
          <p:cNvPicPr>
            <a:picLocks noChangeAspect="1"/>
          </p:cNvPicPr>
          <p:nvPr/>
        </p:nvPicPr>
        <p:blipFill>
          <a:blip r:embed="rId2"/>
          <a:stretch>
            <a:fillRect/>
          </a:stretch>
        </p:blipFill>
        <p:spPr>
          <a:xfrm>
            <a:off x="457200" y="1691640"/>
            <a:ext cx="6583680" cy="4114800"/>
          </a:xfrm>
          <a:prstGeom prst="rect">
            <a:avLst/>
          </a:prstGeom>
        </p:spPr>
      </p:pic>
      <p:sp>
        <p:nvSpPr>
          <p:cNvPr id="5" name="TextBox 4"/>
          <p:cNvSpPr txBox="1"/>
          <p:nvPr/>
        </p:nvSpPr>
        <p:spPr>
          <a:xfrm>
            <a:off x="7223760" y="1691640"/>
            <a:ext cx="4572000" cy="4572000"/>
          </a:xfrm>
          <a:prstGeom prst="rect">
            <a:avLst/>
          </a:prstGeom>
          <a:noFill/>
        </p:spPr>
        <p:txBody>
          <a:bodyPr wrap="square">
            <a:spAutoFit/>
          </a:bodyPr>
          <a:lstStyle/>
          <a:p>
            <a:pPr algn="l">
              <a:spcAft>
                <a:spcPts val="400"/>
              </a:spcAft>
            </a:pPr>
            <a:r>
              <a:rPr sz="1300" b="1">
                <a:solidFill>
                  <a:srgbClr val="E7721E"/>
                </a:solidFill>
              </a:rPr>
              <a:t>phase_2 (3 buildings, held-out)</a:t>
            </a:r>
          </a:p>
          <a:p>
            <a:pPr algn="l"/>
            <a:r>
              <a:rPr sz="1300">
                <a:solidFill>
                  <a:srgbClr val="1F2A3A"/>
                </a:solidFill>
              </a:rPr>
              <a:t>  RBC: </a:t>
            </a:r>
            <a:r>
              <a:rPr sz="1300" b="1">
                <a:solidFill>
                  <a:srgbClr val="1F2A3A"/>
                </a:solidFill>
              </a:rPr>
              <a:t>1.087</a:t>
            </a:r>
          </a:p>
          <a:p>
            <a:pPr algn="l"/>
            <a:r>
              <a:rPr sz="1300">
                <a:solidFill>
                  <a:srgbClr val="1F2A3A"/>
                </a:solidFill>
              </a:rPr>
              <a:t>  PPO central: </a:t>
            </a:r>
            <a:r>
              <a:rPr sz="1300" b="1">
                <a:solidFill>
                  <a:srgbClr val="1F2A3A"/>
                </a:solidFill>
              </a:rPr>
              <a:t>0.873</a:t>
            </a:r>
          </a:p>
          <a:p>
            <a:pPr algn="l"/>
            <a:r>
              <a:rPr sz="1300">
                <a:solidFill>
                  <a:srgbClr val="1F2A3A"/>
                </a:solidFill>
              </a:rPr>
              <a:t>  PPO DTDE: </a:t>
            </a:r>
            <a:r>
              <a:rPr sz="1300" b="1">
                <a:solidFill>
                  <a:srgbClr val="1F2A3A"/>
                </a:solidFill>
              </a:rPr>
              <a:t>0.793</a:t>
            </a:r>
          </a:p>
          <a:p>
            <a:pPr algn="l"/>
            <a:r>
              <a:rPr sz="1300">
                <a:solidFill>
                  <a:srgbClr val="1F2A3A"/>
                </a:solidFill>
              </a:rPr>
              <a:t>  SAC central reward_v2: </a:t>
            </a:r>
            <a:r>
              <a:rPr sz="1300" b="1">
                <a:solidFill>
                  <a:srgbClr val="E7721E"/>
                </a:solidFill>
              </a:rPr>
              <a:t>0.653</a:t>
            </a:r>
            <a:r>
              <a:rPr sz="1100" i="1">
                <a:solidFill>
                  <a:srgbClr val="E7721E"/>
                </a:solidFill>
              </a:rPr>
              <a:t>  (best)</a:t>
            </a:r>
          </a:p>
          <a:p>
            <a:pPr algn="l"/>
            <a:r>
              <a:rPr sz="1300">
                <a:solidFill>
                  <a:srgbClr val="1F2A3A"/>
                </a:solidFill>
              </a:rPr>
              <a:t>  SAC DTDE: </a:t>
            </a:r>
            <a:r>
              <a:rPr sz="1300" b="1">
                <a:solidFill>
                  <a:srgbClr val="1F2A3A"/>
                </a:solidFill>
              </a:rPr>
              <a:t>0.677</a:t>
            </a:r>
          </a:p>
          <a:p>
            <a:pPr algn="l"/>
            <a:r>
              <a:rPr sz="1300">
                <a:solidFill>
                  <a:srgbClr val="555F6D"/>
                </a:solidFill>
              </a:rPr>
              <a:t>  CHESCA public ref: </a:t>
            </a:r>
            <a:r>
              <a:rPr sz="1300" b="1">
                <a:solidFill>
                  <a:srgbClr val="555F6D"/>
                </a:solidFill>
              </a:rPr>
              <a:t>0.562</a:t>
            </a:r>
          </a:p>
          <a:p>
            <a:pPr algn="l">
              <a:spcAft>
                <a:spcPts val="400"/>
              </a:spcAft>
            </a:pPr>
            <a:r>
              <a:rPr sz="1300" b="1">
                <a:solidFill>
                  <a:srgbClr val="E7721E"/>
                </a:solidFill>
              </a:rPr>
              <a:t>phase_3 (6 buildings, held-out — portable only)</a:t>
            </a:r>
          </a:p>
          <a:p>
            <a:pPr algn="l"/>
            <a:r>
              <a:rPr sz="1300">
                <a:solidFill>
                  <a:srgbClr val="1F2A3A"/>
                </a:solidFill>
              </a:rPr>
              <a:t>  RBC: </a:t>
            </a:r>
            <a:r>
              <a:rPr sz="1300" b="1">
                <a:solidFill>
                  <a:srgbClr val="1F2A3A"/>
                </a:solidFill>
              </a:rPr>
              <a:t>1.114</a:t>
            </a:r>
          </a:p>
          <a:p>
            <a:pPr algn="l"/>
            <a:r>
              <a:rPr sz="1300">
                <a:solidFill>
                  <a:srgbClr val="1F2A3A"/>
                </a:solidFill>
              </a:rPr>
              <a:t>  PPO DTDE: </a:t>
            </a:r>
            <a:r>
              <a:rPr sz="1300" b="1">
                <a:solidFill>
                  <a:srgbClr val="1F2A3A"/>
                </a:solidFill>
              </a:rPr>
              <a:t>0.848</a:t>
            </a:r>
          </a:p>
          <a:p>
            <a:pPr algn="l"/>
            <a:r>
              <a:rPr sz="1300">
                <a:solidFill>
                  <a:srgbClr val="1F2A3A"/>
                </a:solidFill>
              </a:rPr>
              <a:t>  SAC DTDE: </a:t>
            </a:r>
            <a:r>
              <a:rPr sz="1300" b="1">
                <a:solidFill>
                  <a:srgbClr val="E7721E"/>
                </a:solidFill>
              </a:rPr>
              <a:t>0.774</a:t>
            </a:r>
            <a:r>
              <a:rPr sz="1100" i="1">
                <a:solidFill>
                  <a:srgbClr val="E7721E"/>
                </a:solidFill>
              </a:rPr>
              <a:t>  (best)</a:t>
            </a:r>
          </a:p>
        </p:txBody>
      </p:sp>
      <p:sp>
        <p:nvSpPr>
          <p:cNvPr id="6" name="TextBox 5"/>
          <p:cNvSpPr txBox="1"/>
          <p:nvPr/>
        </p:nvSpPr>
        <p:spPr>
          <a:xfrm>
            <a:off x="457200" y="5897880"/>
            <a:ext cx="11277295" cy="548640"/>
          </a:xfrm>
          <a:prstGeom prst="rect">
            <a:avLst/>
          </a:prstGeom>
          <a:noFill/>
        </p:spPr>
        <p:txBody>
          <a:bodyPr wrap="square">
            <a:spAutoFit/>
          </a:bodyPr>
          <a:lstStyle/>
          <a:p>
            <a:r>
              <a:rPr sz="1400" b="1">
                <a:solidFill>
                  <a:srgbClr val="E7721E"/>
                </a:solidFill>
              </a:rPr>
              <a:t>Takeaway: </a:t>
            </a:r>
            <a:r>
              <a:rPr sz="1300">
                <a:solidFill>
                  <a:srgbClr val="1F2A3A"/>
                </a:solidFill>
              </a:rPr>
              <a:t>shared-DTDE is the only architecture that transfers to a different building count; centralized SAC reward_v2 is the best within-size variant. CHESCA's 0.562 is benchmark context (different eval server), not a head-to-head number.</a:t>
            </a:r>
          </a:p>
        </p:txBody>
      </p:sp>
      <p:sp>
        <p:nvSpPr>
          <p:cNvPr id="7" name="TextBox 6"/>
          <p:cNvSpPr txBox="1"/>
          <p:nvPr/>
        </p:nvSpPr>
        <p:spPr>
          <a:xfrm>
            <a:off x="457200" y="6446520"/>
            <a:ext cx="11277295" cy="320040"/>
          </a:xfrm>
          <a:prstGeom prst="rect">
            <a:avLst/>
          </a:prstGeom>
          <a:noFill/>
        </p:spPr>
        <p:txBody>
          <a:bodyPr wrap="none">
            <a:spAutoFit/>
          </a:bodyPr>
          <a:lstStyle/>
          <a:p>
            <a:pPr algn="l"/>
            <a:r>
              <a:rPr sz="1000">
                <a:solidFill>
                  <a:srgbClr val="555F6D"/>
                </a:solidFill>
              </a:rPr>
              <a:t>CityLearn 2023 Track-3  ·  Results + limitations</a:t>
            </a:r>
            <a:r>
              <a:rPr sz="1000">
                <a:solidFill>
                  <a:srgbClr val="555F6D"/>
                </a:solidFill>
              </a:rPr>
              <a:t>     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